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3"/>
  </p:normalViewPr>
  <p:slideViewPr>
    <p:cSldViewPr snapToGrid="0" snapToObjects="1">
      <p:cViewPr varScale="1">
        <p:scale>
          <a:sx n="157" d="100"/>
          <a:sy n="157" d="100"/>
        </p:scale>
        <p:origin x="49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78813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64687"/>
            <a:ext cx="9144000" cy="278813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72C4"/>
                </a:solidFill>
                <a:latin typeface="Times New Roman"/>
              </a:rPr>
              <a:t>CHAROTAR UNIVERSITY OF SCIENCE &amp; TECHNOLOGY (CHARUSAT)</a:t>
            </a:r>
          </a:p>
          <a:p>
            <a:pPr algn="ctr"/>
            <a:r>
              <a:rPr sz="1400" b="1">
                <a:solidFill>
                  <a:srgbClr val="4472C4"/>
                </a:solidFill>
                <a:latin typeface="Times New Roman"/>
              </a:rPr>
              <a:t>FACULTY OF TECHNOLOGY &amp; ENGINEERING</a:t>
            </a:r>
          </a:p>
          <a:p>
            <a:pPr algn="ctr"/>
            <a:r>
              <a:rPr sz="1400" b="1">
                <a:solidFill>
                  <a:srgbClr val="4472C4"/>
                </a:solidFill>
                <a:latin typeface="Times New Roman"/>
              </a:rPr>
              <a:t>DEVANG PATEL INSTITUTE OF ADVANCE TECHNOLOGY &amp; RESEARCH (DEPSTAR)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680960" cy="25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Times New Roman"/>
              </a:rPr>
              <a:t>Department of Computer Engineering</a:t>
            </a:r>
          </a:p>
          <a:p>
            <a:pPr algn="ctr"/>
            <a:r>
              <a:rPr sz="1600" b="0">
                <a:solidFill>
                  <a:srgbClr val="1F1F1F"/>
                </a:solidFill>
                <a:latin typeface="Times New Roman"/>
              </a:rPr>
              <a:t>SUMMER INTERNSHIP-II [CE446]</a:t>
            </a:r>
          </a:p>
          <a:p>
            <a:pPr algn="ctr"/>
            <a:r>
              <a:rPr sz="1600" b="0">
                <a:solidFill>
                  <a:srgbClr val="1F1F1F"/>
                </a:solidFill>
                <a:latin typeface="Times New Roman"/>
              </a:rPr>
              <a:t>Summer Internship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1F1F"/>
                </a:solidFill>
                <a:latin typeface="Times New Roman"/>
              </a:rPr>
              <a:t>AegisSOC: AI-Assisted SOC Triage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1" y="3830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1F1F"/>
                </a:solidFill>
                <a:latin typeface="Times New Roman"/>
              </a:rPr>
              <a:t>Name of Student &amp; Id:</a:t>
            </a:r>
          </a:p>
          <a:p>
            <a:pPr algn="l"/>
            <a:r>
              <a:rPr sz="1400" b="0" dirty="0">
                <a:solidFill>
                  <a:srgbClr val="1F1F1F"/>
                </a:solidFill>
                <a:latin typeface="Times New Roman"/>
              </a:rPr>
              <a:t>Harshil Patel — 23DCE081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8955" y="3746687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1F1F"/>
                </a:solidFill>
                <a:latin typeface="Times New Roman"/>
              </a:rPr>
              <a:t>Internal Guide: Dr. Parth Goel</a:t>
            </a:r>
          </a:p>
          <a:p>
            <a:pPr algn="l"/>
            <a:r>
              <a:rPr sz="1400" b="0" dirty="0">
                <a:solidFill>
                  <a:srgbClr val="1F1F1F"/>
                </a:solidFill>
                <a:latin typeface="Times New Roman"/>
              </a:rPr>
              <a:t>External Guide: Nikunj Bhavsar</a:t>
            </a:r>
          </a:p>
          <a:p>
            <a:pPr algn="l"/>
            <a:r>
              <a:rPr sz="1400" b="0" dirty="0">
                <a:solidFill>
                  <a:srgbClr val="1F1F1F"/>
                </a:solidFill>
                <a:latin typeface="Times New Roman"/>
              </a:rPr>
              <a:t>Human Resource Executive, Digiesale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AegisSOC —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1F1F1F"/>
                </a:solidFill>
                <a:latin typeface="Times New Roman"/>
              </a:rPr>
              <a:t>•  S</a:t>
            </a:r>
            <a:r>
              <a:rPr lang="en-US" sz="1700" b="0" dirty="0">
                <a:solidFill>
                  <a:srgbClr val="1F1F1F"/>
                </a:solidFill>
                <a:latin typeface="Times New Roman"/>
              </a:rPr>
              <a:t>ecurity Operations Center(SOC)</a:t>
            </a:r>
            <a:r>
              <a:rPr sz="1700" b="0" dirty="0">
                <a:solidFill>
                  <a:srgbClr val="1F1F1F"/>
                </a:solidFill>
                <a:latin typeface="Times New Roman"/>
              </a:rPr>
              <a:t> analysts face alert fatigue from high false-positive rates across fragmented tools.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1F1F1F"/>
                </a:solidFill>
                <a:latin typeface="Times New Roman"/>
              </a:rPr>
              <a:t>•  Events stay siloed across endpoint, network, identity, cloud, and email sources — context is lost.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1F1F1F"/>
                </a:solidFill>
                <a:latin typeface="Times New Roman"/>
              </a:rPr>
              <a:t>•  Manual correlation slows investigation; attack narratives are hard to reconstruct quickly.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1F1F1F"/>
                </a:solidFill>
                <a:latin typeface="Times New Roman"/>
              </a:rPr>
              <a:t>•  Disruptive response actions risk business impact without clear human approval and audit trails.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1F1F1F"/>
                </a:solidFill>
                <a:latin typeface="Times New Roman"/>
              </a:rPr>
              <a:t>•  </a:t>
            </a:r>
            <a:r>
              <a:rPr sz="1700" b="0" dirty="0" err="1">
                <a:solidFill>
                  <a:srgbClr val="1F1F1F"/>
                </a:solidFill>
                <a:latin typeface="Times New Roman"/>
              </a:rPr>
              <a:t>AegisSOC</a:t>
            </a:r>
            <a:r>
              <a:rPr sz="1700" b="0" dirty="0">
                <a:solidFill>
                  <a:srgbClr val="1F1F1F"/>
                </a:solidFill>
                <a:latin typeface="Times New Roman"/>
              </a:rPr>
              <a:t> addresses this with graph-aware correlation, explainable detection, and LLM-assisted (not LLM-driven)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Project Scope and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265176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Times New Roman"/>
              </a:rPr>
              <a:t>•  JWT analyst console (alerts, cases, investigation).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Times New Roman"/>
              </a:rPr>
              <a:t>•  Ingest → normalize → enrich → graph → detect → case → triage → response pipeline.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Times New Roman"/>
              </a:rPr>
              <a:t>•  Temporal entity graph + attack-path visualization.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Times New Roman"/>
              </a:rPr>
              <a:t>•  Sigma-like rules, correlation, graph risk scoring.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Times New Roman"/>
              </a:rPr>
              <a:t>•  Human-in-the-loop approvals with audit logging.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Times New Roman"/>
              </a:rPr>
              <a:t>•  Docker Compose + sync-mode demo scenarios.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960120"/>
            <a:ext cx="265176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Out of Scope /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417320"/>
            <a:ext cx="265176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Not a full commercial SIEM replacement.</a:t>
            </a:r>
          </a:p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Live </a:t>
            </a:r>
            <a:r>
              <a:rPr sz="1200" b="0" dirty="0" err="1">
                <a:solidFill>
                  <a:srgbClr val="1F1F1F"/>
                </a:solidFill>
                <a:latin typeface="Times New Roman"/>
              </a:rPr>
              <a:t>VirusTotal</a:t>
            </a:r>
            <a:r>
              <a:rPr sz="1200" b="0" dirty="0">
                <a:solidFill>
                  <a:srgbClr val="1F1F1F"/>
                </a:solidFill>
                <a:latin typeface="Times New Roman"/>
              </a:rPr>
              <a:t>/</a:t>
            </a:r>
            <a:r>
              <a:rPr sz="1200" b="0" dirty="0" err="1">
                <a:solidFill>
                  <a:srgbClr val="1F1F1F"/>
                </a:solidFill>
                <a:latin typeface="Times New Roman"/>
              </a:rPr>
              <a:t>OpenCTI</a:t>
            </a:r>
            <a:r>
              <a:rPr sz="1200" b="0" dirty="0">
                <a:solidFill>
                  <a:srgbClr val="1F1F1F"/>
                </a:solidFill>
                <a:latin typeface="Times New Roman"/>
              </a:rPr>
              <a:t> are optional stubs by default.</a:t>
            </a:r>
          </a:p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Graph ML is lightweight (</a:t>
            </a:r>
            <a:r>
              <a:rPr sz="1200" b="0" dirty="0" err="1">
                <a:solidFill>
                  <a:srgbClr val="1F1F1F"/>
                </a:solidFill>
                <a:latin typeface="Times New Roman"/>
              </a:rPr>
              <a:t>numpy</a:t>
            </a:r>
            <a:r>
              <a:rPr sz="1200" b="0" dirty="0">
                <a:solidFill>
                  <a:srgbClr val="1F1F1F"/>
                </a:solidFill>
                <a:latin typeface="Times New Roman"/>
              </a:rPr>
              <a:t>)</a:t>
            </a:r>
            <a:r>
              <a:rPr lang="en-US" sz="1200" b="0" dirty="0">
                <a:solidFill>
                  <a:srgbClr val="1F1F1F"/>
                </a:solidFill>
                <a:latin typeface="Times New Roman"/>
              </a:rPr>
              <a:t>.</a:t>
            </a:r>
            <a:endParaRPr sz="1200" b="0" dirty="0">
              <a:solidFill>
                <a:srgbClr val="1F1F1F"/>
              </a:solidFill>
              <a:latin typeface="Times New Roman"/>
            </a:endParaRPr>
          </a:p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Tenant isolation is logical (</a:t>
            </a:r>
            <a:r>
              <a:rPr sz="1200" b="0" dirty="0" err="1">
                <a:solidFill>
                  <a:srgbClr val="1F1F1F"/>
                </a:solidFill>
                <a:latin typeface="Times New Roman"/>
              </a:rPr>
              <a:t>tenant_id</a:t>
            </a:r>
            <a:r>
              <a:rPr sz="1200" b="0" dirty="0">
                <a:solidFill>
                  <a:srgbClr val="1F1F1F"/>
                </a:solidFill>
                <a:latin typeface="Times New Roman"/>
              </a:rPr>
              <a:t>), not physical.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60120"/>
            <a:ext cx="265176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17320"/>
            <a:ext cx="26517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Multi-broker </a:t>
            </a:r>
            <a:r>
              <a:rPr sz="1200" b="0" dirty="0" err="1">
                <a:solidFill>
                  <a:srgbClr val="1F1F1F"/>
                </a:solidFill>
                <a:latin typeface="Times New Roman"/>
              </a:rPr>
              <a:t>Redpanda</a:t>
            </a:r>
            <a:r>
              <a:rPr sz="1200" b="0" dirty="0">
                <a:solidFill>
                  <a:srgbClr val="1F1F1F"/>
                </a:solidFill>
                <a:latin typeface="Times New Roman"/>
              </a:rPr>
              <a:t> + autoscaling.</a:t>
            </a:r>
          </a:p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Neo4j cluster / </a:t>
            </a:r>
            <a:r>
              <a:rPr sz="1200" b="0" dirty="0" err="1">
                <a:solidFill>
                  <a:srgbClr val="1F1F1F"/>
                </a:solidFill>
                <a:latin typeface="Times New Roman"/>
              </a:rPr>
              <a:t>AuraDB</a:t>
            </a:r>
            <a:r>
              <a:rPr sz="1200" b="0" dirty="0">
                <a:solidFill>
                  <a:srgbClr val="1F1F1F"/>
                </a:solidFill>
                <a:latin typeface="Times New Roman"/>
              </a:rPr>
              <a:t> replicas.</a:t>
            </a:r>
          </a:p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Live threat-intel feeds with caching.</a:t>
            </a:r>
          </a:p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Heterogeneous risk scoring.</a:t>
            </a:r>
          </a:p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1F1F1F"/>
                </a:solidFill>
                <a:latin typeface="Times New Roman"/>
              </a:rPr>
              <a:t>•  </a:t>
            </a:r>
            <a:r>
              <a:rPr sz="1200" b="0" dirty="0" err="1">
                <a:solidFill>
                  <a:srgbClr val="1F1F1F"/>
                </a:solidFill>
                <a:latin typeface="Times New Roman"/>
              </a:rPr>
              <a:t>mTLS</a:t>
            </a:r>
            <a:r>
              <a:rPr sz="1200" b="0" dirty="0">
                <a:solidFill>
                  <a:srgbClr val="1F1F1F"/>
                </a:solidFill>
                <a:latin typeface="Times New Roman"/>
              </a:rPr>
              <a:t> + per-source API keys at ingestion.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Technology Stack and Tools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1F1F"/>
                </a:solidFill>
                <a:latin typeface="Times New Roman"/>
              </a:rPr>
              <a:t>Backend</a:t>
            </a:r>
          </a:p>
          <a:p>
            <a:pPr algn="l"/>
            <a:r>
              <a:rPr sz="1400" b="0" dirty="0">
                <a:solidFill>
                  <a:srgbClr val="1F1F1F"/>
                </a:solidFill>
                <a:latin typeface="Times New Roman"/>
              </a:rPr>
              <a:t>Python 3.11, </a:t>
            </a:r>
            <a:r>
              <a:rPr sz="1400" b="0" dirty="0" err="1">
                <a:solidFill>
                  <a:srgbClr val="1F1F1F"/>
                </a:solidFill>
                <a:latin typeface="Times New Roman"/>
              </a:rPr>
              <a:t>FastAPI</a:t>
            </a:r>
            <a:endParaRPr sz="1400" b="0" dirty="0">
              <a:solidFill>
                <a:srgbClr val="1F1F1F"/>
              </a:solidFill>
              <a:latin typeface="Times New Roman"/>
            </a:endParaRPr>
          </a:p>
        </p:txBody>
      </p:sp>
      <p:sp>
        <p:nvSpPr>
          <p:cNvPr id="5" name="Oval 4"/>
          <p:cNvSpPr/>
          <p:nvPr/>
        </p:nvSpPr>
        <p:spPr>
          <a:xfrm>
            <a:off x="4663440" y="109728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59" y="1051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Frontend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React, TypeScript, Vite, Cytoscape.js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Data stores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PostgreSQL, Neo4j, Redis, OpenSearch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214884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Streaming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Redpanda (Kafka-compatible)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54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Auth &amp; Ops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JWT RBAC, Docker Compose, Prometheus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20040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3154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Other tools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Git/GitHub, VS Code, evaluation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84048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  <a:latin typeface="Times New Roman"/>
              </a:rPr>
              <a:t>•  Event-driven microservices over Kafka/</a:t>
            </a:r>
            <a:r>
              <a:rPr sz="1400" b="0" dirty="0" err="1">
                <a:solidFill>
                  <a:srgbClr val="1F1F1F"/>
                </a:solidFill>
                <a:latin typeface="Times New Roman"/>
              </a:rPr>
              <a:t>Redpanda</a:t>
            </a:r>
            <a:r>
              <a:rPr sz="1400" b="0" dirty="0">
                <a:solidFill>
                  <a:srgbClr val="1F1F1F"/>
                </a:solidFill>
                <a:latin typeface="Times New Roman"/>
              </a:rPr>
              <a:t> topics.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  <a:latin typeface="Times New Roman"/>
              </a:rPr>
              <a:t>•  </a:t>
            </a:r>
            <a:r>
              <a:rPr sz="1400" b="0" dirty="0" err="1">
                <a:solidFill>
                  <a:srgbClr val="1F1F1F"/>
                </a:solidFill>
                <a:latin typeface="Times New Roman"/>
              </a:rPr>
              <a:t>CanonicalEvent</a:t>
            </a:r>
            <a:r>
              <a:rPr sz="1400" b="0" dirty="0">
                <a:solidFill>
                  <a:srgbClr val="1F1F1F"/>
                </a:solidFill>
                <a:latin typeface="Times New Roman"/>
              </a:rPr>
              <a:t> schema unifies Sysmon, Zeek, EDR, AD, CloudTrail, K8s, email.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  <a:latin typeface="Times New Roman"/>
              </a:rPr>
              <a:t>•  Graph builder </a:t>
            </a:r>
            <a:r>
              <a:rPr sz="1400" b="0" dirty="0" err="1">
                <a:solidFill>
                  <a:srgbClr val="1F1F1F"/>
                </a:solidFill>
                <a:latin typeface="Times New Roman"/>
              </a:rPr>
              <a:t>upserts</a:t>
            </a:r>
            <a:r>
              <a:rPr sz="1400" b="0" dirty="0">
                <a:solidFill>
                  <a:srgbClr val="1F1F1F"/>
                </a:solidFill>
                <a:latin typeface="Times New Roman"/>
              </a:rPr>
              <a:t> entities/edges in-memory sync store.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  <a:latin typeface="Times New Roman"/>
              </a:rPr>
              <a:t>•  Detection → case clustering → LLM triage with citation grounding.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  <a:latin typeface="Times New Roman"/>
              </a:rPr>
              <a:t>•  Frontend gateway</a:t>
            </a:r>
            <a:r>
              <a:rPr lang="en-US" sz="1400" b="0" dirty="0">
                <a:solidFill>
                  <a:srgbClr val="1F1F1F"/>
                </a:solidFill>
                <a:latin typeface="Times New Roman"/>
              </a:rPr>
              <a:t> </a:t>
            </a:r>
            <a:r>
              <a:rPr sz="1400" b="0" dirty="0">
                <a:solidFill>
                  <a:srgbClr val="1F1F1F"/>
                </a:solidFill>
                <a:latin typeface="Times New Roman"/>
              </a:rPr>
              <a:t>exposes a unified JWT API to the React console.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  <a:latin typeface="Times New Roman"/>
              </a:rPr>
              <a:t>•  Disruptive actions require senior/analyst approval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30805"/>
            <a:ext cx="4297680" cy="3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Flow Chart — End-to-End Pipeline</a:t>
            </a:r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014" y="914400"/>
            <a:ext cx="4891972" cy="3383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0" y="4709160"/>
            <a:ext cx="274320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Fig. 5.1  Data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Alert-to-Response Sequence</a:t>
            </a:r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51" y="868680"/>
            <a:ext cx="7205098" cy="35661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0" y="4709160"/>
            <a:ext cx="274320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Fig. 5.3  Sequence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Major Functionalities, Limitations &amp; Outcome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960120"/>
            <a:ext cx="269748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Major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173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Multi-source ingest + scenario replay.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Temporal graph &amp; attack-path analysis.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Explainable detection &amp; case clustering.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Grounded LLM triage + ATT&amp;CK mapping.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Approval workflow with full audit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960120"/>
            <a:ext cx="269748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2697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1F1F1F"/>
                </a:solidFill>
                <a:latin typeface="Times New Roman"/>
              </a:rPr>
              <a:t>•  Lightweight graph scorer</a:t>
            </a:r>
            <a:r>
              <a:rPr lang="en-US" sz="1300" b="0" dirty="0">
                <a:solidFill>
                  <a:srgbClr val="1F1F1F"/>
                </a:solidFill>
                <a:latin typeface="Times New Roman"/>
              </a:rPr>
              <a:t>.</a:t>
            </a:r>
            <a:endParaRPr sz="1300" b="0" dirty="0">
              <a:solidFill>
                <a:srgbClr val="1F1F1F"/>
              </a:solidFill>
              <a:latin typeface="Times New Roman"/>
            </a:endParaRPr>
          </a:p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1F1F1F"/>
                </a:solidFill>
                <a:latin typeface="Times New Roman"/>
              </a:rPr>
              <a:t>•  External intel connectors mostly stubbed.</a:t>
            </a:r>
          </a:p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1F1F1F"/>
                </a:solidFill>
                <a:latin typeface="Times New Roman"/>
              </a:rPr>
              <a:t>•  Heuristic prompt-injection filters.</a:t>
            </a:r>
          </a:p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1F1F1F"/>
                </a:solidFill>
                <a:latin typeface="Times New Roman"/>
              </a:rPr>
              <a:t>•  Logical multi-tenant scoping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960120"/>
            <a:ext cx="269748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4173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11 services + React console in Docker.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Demo scenarios: ransomware, FP, graph memory.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Detection stays deterministic; LLM assists.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Times New Roman"/>
              </a:rPr>
              <a:t>•  Human-approved response with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Screenshots — Alert Queue</a:t>
            </a:r>
          </a:p>
        </p:txBody>
      </p:sp>
      <p:pic>
        <p:nvPicPr>
          <p:cNvPr id="3" name="Picture 2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3708"/>
            <a:ext cx="8229600" cy="23075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0" y="4709160"/>
            <a:ext cx="274320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Alert Queue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Screenshots — Cases Management</a:t>
            </a:r>
          </a:p>
        </p:txBody>
      </p:sp>
      <p:pic>
        <p:nvPicPr>
          <p:cNvPr id="3" name="Picture 2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9739"/>
            <a:ext cx="8229599" cy="17754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0" y="4709160"/>
            <a:ext cx="274320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Cases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Screenshots — Investigation Workspace</a:t>
            </a:r>
          </a:p>
        </p:txBody>
      </p:sp>
      <p:pic>
        <p:nvPicPr>
          <p:cNvPr id="3" name="Picture 2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042" y="868680"/>
            <a:ext cx="6501916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0" y="4709160"/>
            <a:ext cx="274320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Attack-Path Graph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Screenshots — Response &amp; Approvals</a:t>
            </a:r>
          </a:p>
        </p:txBody>
      </p:sp>
      <p:pic>
        <p:nvPicPr>
          <p:cNvPr id="3" name="Picture 2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4295"/>
            <a:ext cx="8229600" cy="24263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0" y="4709160"/>
            <a:ext cx="274320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Response Panel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Screenshots — Approval Modal</a:t>
            </a:r>
          </a:p>
        </p:txBody>
      </p:sp>
      <p:pic>
        <p:nvPicPr>
          <p:cNvPr id="3" name="Picture 2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28116"/>
            <a:ext cx="8229599" cy="353872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0" y="4709160"/>
            <a:ext cx="274320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Human Approval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Screenshots — Metrics Dashboard</a:t>
            </a:r>
          </a:p>
        </p:txBody>
      </p:sp>
      <p:pic>
        <p:nvPicPr>
          <p:cNvPr id="3" name="Picture 2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868680"/>
            <a:ext cx="7184571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200400" y="4709160"/>
            <a:ext cx="274320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Ops Metrics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8229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References and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97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MITRE ATT&amp;CK Framework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attack.mitre.org</a:t>
            </a:r>
          </a:p>
        </p:txBody>
      </p:sp>
      <p:sp>
        <p:nvSpPr>
          <p:cNvPr id="5" name="Oval 4"/>
          <p:cNvSpPr/>
          <p:nvPr/>
        </p:nvSpPr>
        <p:spPr>
          <a:xfrm>
            <a:off x="4663440" y="109728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59" y="1097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Sigma Rule Format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SigmaHQ / GitHub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FastAPI Documentation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fastapi.tiangolo.com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214884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Neo4j Graph Database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neo4j.com/docs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00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Apache Kafka / Redpanda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Streaming backbone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20040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3200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React + Docker Docs</a:t>
            </a:r>
          </a:p>
          <a:p>
            <a:pPr algn="l"/>
            <a:r>
              <a:rPr sz="1400" b="0">
                <a:solidFill>
                  <a:srgbClr val="1F1F1F"/>
                </a:solidFill>
                <a:latin typeface="Times New Roman"/>
              </a:rPr>
              <a:t>UI &amp;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78813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64687"/>
            <a:ext cx="9144000" cy="278813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472C4"/>
                </a:solidFill>
                <a:latin typeface="Times New Roman"/>
              </a:rPr>
              <a:t>Thank You 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661</Words>
  <Application>Microsoft Macintosh PowerPoint</Application>
  <PresentationFormat>On-screen Show (16:9)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23DCE081 HARSHIL PATEL</cp:lastModifiedBy>
  <cp:revision>2</cp:revision>
  <dcterms:created xsi:type="dcterms:W3CDTF">2013-01-27T09:14:16Z</dcterms:created>
  <dcterms:modified xsi:type="dcterms:W3CDTF">2026-07-22T07:11:28Z</dcterms:modified>
  <cp:category/>
</cp:coreProperties>
</file>